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E-Commerce Data Warehouse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DDFF"/>
                </a:solidFill>
                <a:latin typeface="Calibri"/>
              </a:defRPr>
            </a:pPr>
            <a:r>
              <a:t>End-to-End Data Pipeline with Snowflake &amp; dbt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DDFF"/>
                </a:solidFill>
                <a:latin typeface="Calibri"/>
              </a:defRPr>
            </a:pPr>
            <a:r>
              <a:t>Ironhack 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BBFF"/>
                </a:solidFill>
                <a:latin typeface="Calibri"/>
              </a:defRPr>
            </a:pPr>
            <a:r>
              <a:t>Week 13 — Snowflake &amp; dbt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What we will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28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Project Overview &amp; 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The big picture: OLTP to OLAP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311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23113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Data Source (OLTP)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3113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7 normalized source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6334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33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Ingestion: AWS S3 + Snowpipe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33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Automated data 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358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0358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Snowflake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358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Databases, schemas, 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381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4381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dbt: The Transformation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4381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Modular SQL, ref() &amp; source()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840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Staging Layer (Silver)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Cleaning &amp; standardizing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242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24281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Star Schema (Gold)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428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Dimensions &amp;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45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6451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Data Marts &amp; CUBE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645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Pre-aggregated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474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0474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Data Governance &amp; GDPR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04748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Quality, lineage, anonymization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4498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4498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Streamlit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5449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Interactive visualization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5852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6DF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5852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72E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5852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Summary &amp; lessons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From raw transactions to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60320"/>
            <a:ext cx="1325880" cy="1463040"/>
          </a:xfrm>
          <a:prstGeom prst="round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3272E"/>
                </a:solidFill>
                <a:latin typeface="Calibri"/>
              </a:defRPr>
            </a:pPr>
            <a:r>
              <a:t>CSV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72E"/>
                </a:solidFill>
                <a:latin typeface="Calibri"/>
              </a:defRPr>
            </a:pPr>
            <a:r>
              <a:t>12 source files</a:t>
            </a:r>
            <a:br/>
            <a:r>
              <a:t>7 entity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560320"/>
            <a:ext cx="1325880" cy="1463040"/>
          </a:xfrm>
          <a:prstGeom prst="round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0312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AWS S3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Cloud storage</a:t>
            </a:r>
            <a:br/>
            <a:r>
              <a:t>Event notifications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2560320"/>
            <a:ext cx="1325880" cy="1463040"/>
          </a:xfrm>
          <a:prstGeom prst="roundRect">
            <a:avLst/>
          </a:prstGeom>
          <a:solidFill>
            <a:srgbClr val="29B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Snowpipe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AUTO_INGEST</a:t>
            </a:r>
            <a:br/>
            <a:r>
              <a:t>Real-time loading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560320"/>
            <a:ext cx="1325880" cy="1463040"/>
          </a:xfrm>
          <a:prstGeom prst="round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RAW.OLTP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Bronze Layer</a:t>
            </a:r>
            <a:br/>
            <a:r>
              <a:t>7 raw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2560320"/>
            <a:ext cx="1325880" cy="1463040"/>
          </a:xfrm>
          <a:prstGeom prst="round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3272E"/>
                </a:solidFill>
                <a:latin typeface="Calibri"/>
              </a:defRPr>
            </a:pPr>
            <a:r>
              <a:t>dbt Staging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72E"/>
                </a:solidFill>
                <a:latin typeface="Calibri"/>
              </a:defRPr>
            </a:pPr>
            <a:r>
              <a:t>Silver Layer</a:t>
            </a:r>
            <a:br/>
            <a:r>
              <a:t>7 staging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2560320"/>
            <a:ext cx="1325880" cy="14630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Star Schema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Gold Layer</a:t>
            </a:r>
            <a:br/>
            <a:r>
              <a:t>3 dims + 1 fact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0632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560320"/>
            <a:ext cx="1325880" cy="1463040"/>
          </a:xfrm>
          <a:prstGeom prst="round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0" y="27432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Data Marts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108960"/>
            <a:ext cx="1325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Gold Layer</a:t>
            </a:r>
            <a:br/>
            <a:r>
              <a:t>6 mart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ELT Pattern:  Extract + Load (S3 → Snowpipe → RAW)  →  Transform in Warehouse (dbt)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Medallion Architecture:   Bronze (raw)  →  Silver (cleaned)  →  Gold (business-ready)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Data Source: OLTP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7 normalized tables from the operational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058400" cy="411480"/>
          </a:xfrm>
          <a:prstGeom prst="round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62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62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62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10058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9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19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200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5196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Client master data (name, email, phone, address)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07792"/>
            <a:ext cx="100584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9585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client_type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958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5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5859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Standard, VIP, Premium, New, Inactive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346704"/>
            <a:ext cx="10058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397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client_status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33975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5 rows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97504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Active, Inactive, Suspended, Pending, Deactivated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785616"/>
            <a:ext cx="100584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8364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83641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200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83641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Order transactions (date, status, total_amount)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24528"/>
            <a:ext cx="10058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753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order_product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27532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300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2753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Line items: which product in which order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663440"/>
            <a:ext cx="10058400" cy="411480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714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714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60 rows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714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Product catalog (name, category, price)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5102352"/>
            <a:ext cx="1005840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153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6DF8"/>
                </a:solidFill>
                <a:latin typeface="Calibri"/>
              </a:defRPr>
            </a:pPr>
            <a:r>
              <a:t>payment_method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0" y="515315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72E"/>
                </a:solidFill>
                <a:latin typeface="Calibri"/>
              </a:defRPr>
            </a:pPr>
            <a:r>
              <a:t>4 rows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15315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credit_card, coupon, bank_transfer, gift_card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Normalized design = no redundancy, great for writes — but every analytics query needs multiple JOINs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Ingestion: AWS S3 + Snowpipe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Fully automated data loading into Snowflake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Storage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Trust relationship between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Snowflake and AWS S3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IAM Role-based access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Scoped to specific bucket: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s3://ironhack-ecommerce/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Stage + File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CSV format: comma-delimited,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skip header, NULL handling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Stage = pointer from Snowflake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to S3 bucket location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No data download needed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Snowpipe (AUTO_INGEST)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S3 event → SQS queue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→ Snowpipe triggers COPY INTO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7 pipes for 7 tables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PATTERN regex file matching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Fully automatic, near 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272E"/>
                </a:solidFill>
                <a:latin typeface="Calibri"/>
              </a:defRPr>
            </a:pPr>
            <a:r>
              <a:t>CSV upload → S3 bucket → Event Notification → SQS Queue → Snowpipe → COPY INTO → RAW.OLTP tables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96DF8"/>
                </a:solidFill>
                <a:latin typeface="Calibri"/>
              </a:defRPr>
            </a:pPr>
            <a:r>
              <a:t>Zero manual intervention — data lands in Snowflake within seconds of upload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Snowflake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3 databases, separation of storage and compute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D7F32"/>
                </a:solidFill>
                <a:latin typeface="Calibri"/>
              </a:defRPr>
            </a:pPr>
            <a:r>
              <a:t>RAW (Bronze)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Schema: OLTP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7 tables — exact copy of CSVs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client, orders, product,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order_product, payment_method,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client_status, client_type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Read-only for analytics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PREP (Silver + Gold)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Schema: HAND_ON (staging)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7 staging views (stg_*)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Schema: HAND_ON_OUTPUT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3 dimensions (dim_*)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1 fact table (fact_orders)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6 data marts (mart_*)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dbt writes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926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SNOWPIPE_DB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Schema: PUBLIC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my_s3_stage (S3 pointer)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my_csv_format (file format)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7 pipes (auto-ingest)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Infrastructure layer for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the ingestion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Snowflake separates storage from compute — scale independently, pay only for what you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dbt — The Transformation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Modular, testable, version-controlled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What is dbt?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Data Build Tool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The 'T' in ELT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Transforms data inside the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warehouse using SQL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Does NOT load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source() → raw data reference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ref() → model-to-model reference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DAG: automatic dependency graph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Materialization: table vs view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Tests: unique, not_null, relationships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Project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dbt_project.yml: schemas,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materialization, database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profiles.yml: Snowflake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  connection (warehouse, creds)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Custom macro: schema naming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72E"/>
                </a:solidFill>
                <a:latin typeface="Calibri"/>
              </a:defRPr>
            </a:pPr>
            <a:r>
              <a:t>Dependency Graph (DAG)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75488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source.client → stg_client ───┐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source.client_status → stg_client_status ─┤→ dim_client ─┐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source.client_type → stg_client_type ──┘                          ├→ mart_sales_by_client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source.orders → stg_orders ─────┐                                      ├→ mart_monthly_sales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source.order_product → stg_order_product ┤→ fact_orders ───┘→ mart_sales_by_category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source.product → stg_product ─────→ dim_product ───────→ ...</a:t>
            </a:r>
          </a:p>
          <a:p>
            <a:pPr>
              <a:spcAft>
                <a:spcPts val="100"/>
              </a:spcAft>
              <a:defRPr sz="1000">
                <a:solidFill>
                  <a:srgbClr val="23272E"/>
                </a:solidFill>
                <a:latin typeface="Consolas"/>
              </a:defRPr>
            </a:pPr>
            <a:r>
              <a:t>source.payment_method → stg_payment_method → dim_payment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Staging Layer (Silver)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Clean, standardize, document — models/03_hands_on/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What happens in staging?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1:1 mapping from raw source tables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Explicit column selection (no SELECT *)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CTE pattern: source → renamed → select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Materialized as VIEWs (no extra storage)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Location: PREP.HAND_ON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029200" cy="2103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Data Quality Tests (schema.yml)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unique: no duplicate primary keys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not_null: no missing key values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Run with: dbt test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dbt generates SQL to validate automatically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Part of Data Governance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72E"/>
                </a:solidFill>
                <a:latin typeface="Calibri"/>
              </a:defRPr>
            </a:pPr>
            <a:r>
              <a:t>7 Staging Models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092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092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8396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396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stg_client_status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4700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4700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stg_client_type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004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004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stg_orders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308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308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stg_order_product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3612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612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stg_product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99167" y="4937760"/>
            <a:ext cx="1371600" cy="502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9167" y="49834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6DF8"/>
                </a:solidFill>
                <a:latin typeface="Calibri"/>
              </a:defRPr>
            </a:pPr>
            <a:r>
              <a:t>stg_payment_method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Convention: stg_ prefix = staging model  |  source('ecommerce', 'table_name') = raw data reference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Star Schema (Gold Layer)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Denormalized for fast analytical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92608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dim_client (200 rows)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Joins: client + type + status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Denormalized: type_name, status_name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PII fields anonymized (GDPR)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FK: client_id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2926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5262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dim_product (60 rows)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8920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product_name, category, price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FK: product_id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286000"/>
            <a:ext cx="29260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2423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dim_payment (4 rows)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7889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credit_card, coupon,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bank_transfer, gift_card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FK: payment_id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2560320"/>
            <a:ext cx="3931920" cy="2926080"/>
          </a:xfrm>
          <a:prstGeom prst="round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26517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fact_orders (300 rows)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order_product_id (PK)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order_id, client_id (FK)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product_id (FK), payment_id (FK)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order_date, status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quantity, price_unit, total_amount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Star Schema: 1 fact table at the center, dimension tables around it — max 3 JOINs instead of 5+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Data Marts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Pre-aggregated tables ready for dashboards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mart_monthly_sales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Revenue, orders, units per month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AVG order value calculated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Uses date_trunc('month')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COUNT(DISTINCT order_id)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mart_sales_by_category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Revenue per product category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JOIN fact → dim_product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GROUP BY 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mart_sales_by_client_type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Revenue per client segment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Standard, VIP, Premium, ...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JOIN fact → dim_client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mart_sales_by_client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Per-client revenue &amp; orders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First/last order date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Top 10 clients for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93192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mart_cube_category_month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CUBE(category, month)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All subtotal combinations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Category totals, month totals,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grand total — 1 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931920"/>
            <a:ext cx="329184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4069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mart_cube_payment_status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CUBE(payment_method, status)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Cross-dimensional analysis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COALESCE for readable labels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'ALL METHODS', 'ALL STATUSES'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No SQL knowledge needed to use marts — just SELECT * and get dashboard-ready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CUBE — Multi-Dimensional 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All subtotal combinations in a single query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280"/>
                </a:solidFill>
                <a:latin typeface="Calibri"/>
              </a:defRPr>
            </a:pPr>
            <a:r>
              <a:t>Normal GROUP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GROUP BY category, month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Result: Electronics+Jan, Electronics+Feb, ...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Only individual combinations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Need 4 UNION ALL queries for subtotals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029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Calibri"/>
              </a:defRPr>
            </a:pPr>
            <a:r>
              <a:t>GROUP BY CUBE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GROUP BY CUBE(category, month)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Individual combos + category subtotals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+ month subtotals + grand total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All in ONE query!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3272E"/>
                </a:solidFill>
                <a:latin typeface="Calibri"/>
              </a:defRPr>
            </a:pPr>
            <a:r>
              <a:t>Example Output (mart_cube_category_month)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617720"/>
            <a:ext cx="9144000" cy="329184"/>
          </a:xfrm>
          <a:prstGeom prst="round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64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Category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64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464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64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65192"/>
            <a:ext cx="9144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499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Electronics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99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Jan 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499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$12,500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9905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C3AED"/>
                </a:solidFill>
                <a:latin typeface="Calibri"/>
              </a:defRPr>
            </a:pPr>
            <a:r>
              <a:t>Individual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0" y="5312664"/>
            <a:ext cx="9144000" cy="329184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33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Electronics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33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ALL 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33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$145,000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3380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C3AED"/>
                </a:solidFill>
                <a:latin typeface="Calibri"/>
              </a:defRPr>
            </a:pPr>
            <a:r>
              <a:t>Category subtotal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71600" y="5660136"/>
            <a:ext cx="9144000" cy="32918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54480" y="568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ALL CATEGORIES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68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Jan 2024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68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$28,000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568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C3AED"/>
                </a:solidFill>
                <a:latin typeface="Calibri"/>
              </a:defRPr>
            </a:pPr>
            <a:r>
              <a:t>Month subtotal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6007608"/>
            <a:ext cx="9144000" cy="329184"/>
          </a:xfrm>
          <a:prstGeom prst="round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603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ALL CATEGORIES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603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ALL MONTHS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603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72E"/>
                </a:solidFill>
                <a:latin typeface="Calibri"/>
              </a:defRPr>
            </a:pPr>
            <a:r>
              <a:t>$380,000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60330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C3AED"/>
                </a:solidFill>
                <a:latin typeface="Calibri"/>
              </a:defRPr>
            </a:pPr>
            <a:r>
              <a:t>Grand total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Data Governance &amp; GDPR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Quality, lineage, anonymization,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Data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schema.yml: unique, not_null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Relationship integrity checks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(FK → PK validation)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dbt test runs all checks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Automated, repeatable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Lineage &amp;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source() + ref() build the DAG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Full traceability: raw → mart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dbt docs generate + serve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Interactive lineage graph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Column-level descriptions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148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PII Anonymization (GDPR)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51460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Email: j***@example.com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Phone: (***) ***-4567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Address: 123***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Raw data untouched (Bronze)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Masked in Gold layer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3272E"/>
                </a:solidFill>
                <a:latin typeface="Calibri"/>
              </a:defRPr>
            </a:pPr>
            <a:r>
              <a:t>Naming Conventions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2367" y="5029200"/>
            <a:ext cx="2286000" cy="640080"/>
          </a:xfrm>
          <a:prstGeom prst="round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2367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stg_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2367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Staging 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72687" y="5029200"/>
            <a:ext cx="2286000" cy="640080"/>
          </a:xfrm>
          <a:prstGeom prst="round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2687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dim_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2687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Dimension table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5029200"/>
            <a:ext cx="2286000" cy="640080"/>
          </a:xfrm>
          <a:prstGeom prst="roundRect">
            <a:avLst/>
          </a:prstGeom>
          <a:solidFill>
            <a:srgbClr val="00B8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3007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fact_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3007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Fact 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93327" y="5029200"/>
            <a:ext cx="2286000" cy="640080"/>
          </a:xfrm>
          <a:prstGeom prst="roundRect">
            <a:avLst/>
          </a:prstGeom>
          <a:solidFill>
            <a:srgbClr val="FF8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93327" y="50474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mart_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93327" y="5349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Data mart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Interactive data visualization — dashboard.py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Dashboard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4 KPI Cards: Revenue, Orders, Clients, Units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Monthly Sales (bar chart): revenue over time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Revenue by Category (pie/donut chart)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Revenue by Client Type (bar chart)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CUBE Heatmap: Category x Month matrix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CUBE Grouped Bars: Payment x Status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Top 10 Clients by Revenue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6 Detail Table Tabs (raw mart data)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029200" cy="16459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89C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Streamlit: Python web framework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Plotly Express: interactive charts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Snowflake Connector: direct DB access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Pandas: data manipulation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Data cached for 10 min (ttl=600)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0292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348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Connects to PREP.HAND_ON_OUTPUT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Queries mart tables directly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No intermediate data layer needed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Run: streamlit run dashboard.py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7280"/>
                </a:solidFill>
                <a:latin typeface="Calibri"/>
              </a:defRPr>
            </a:pPr>
            <a:r>
              <a:t>The dashboard reads directly from the Gold layer — the same tables analysts would query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960120"/>
            <a:ext cx="548640" cy="63500"/>
          </a:xfrm>
          <a:prstGeom prst="rect">
            <a:avLst/>
          </a:prstGeom>
          <a:solidFill>
            <a:srgbClr val="296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3272E"/>
                </a:solidFill>
                <a:latin typeface="Calibri"/>
              </a:defRPr>
            </a:pPr>
            <a:r>
              <a:t>ETL vs ELT + Medallion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280"/>
                </a:solidFill>
                <a:latin typeface="Calibri"/>
              </a:defRPr>
            </a:pPr>
            <a:r>
              <a:t>Modern data engineering patterns in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0292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B7280"/>
                </a:solidFill>
                <a:latin typeface="Calibri"/>
              </a:defRPr>
            </a:pPr>
            <a:r>
              <a:t>Traditional ETL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Extract → Transform → Load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Transform on a dedicated server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Bottleneck: own compute needed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Data cleaned BEFORE loading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Legacy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0292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96DF8"/>
                </a:solidFill>
                <a:latin typeface="Calibri"/>
              </a:defRPr>
            </a:pPr>
            <a:r>
              <a:t>Modern ELT (this project)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5146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Extract + Load → Transform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Load raw data first (S3 → Snowpipe)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Transform inside the warehouse (dbt)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Use Snowflake's parallel compute</a:t>
            </a:r>
          </a:p>
          <a:p>
            <a:pPr>
              <a:spcAft>
                <a:spcPts val="400"/>
              </a:spcAft>
              <a:defRPr sz="1300">
                <a:solidFill>
                  <a:srgbClr val="23272E"/>
                </a:solidFill>
                <a:latin typeface="Calibri"/>
              </a:defRPr>
            </a:pPr>
            <a:r>
              <a:t>Scalable, cost-effective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3272E"/>
                </a:solidFill>
                <a:latin typeface="Calibri"/>
              </a:defRPr>
            </a:pPr>
            <a:r>
              <a:t>Medallion Architecture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9487" y="4846320"/>
            <a:ext cx="3200400" cy="1371600"/>
          </a:xfrm>
          <a:prstGeom prst="roundRect">
            <a:avLst/>
          </a:prstGeom>
          <a:solidFill>
            <a:srgbClr val="CD7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48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87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RAW.OLTP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487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Raw data, 1:1 copy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87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Unvalidated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9887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327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5647" y="4846320"/>
            <a:ext cx="3200400" cy="1371600"/>
          </a:xfrm>
          <a:prstGeom prst="roundRect">
            <a:avLst/>
          </a:prstGeom>
          <a:solidFill>
            <a:srgbClr val="C0C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564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SILVER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5647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PREP.HAND_ON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647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Cleaned, staged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5647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Validated 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6047" y="5212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3272E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1807" y="4846320"/>
            <a:ext cx="3200400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1807" y="4892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61807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PREP.HAND_ON_OUTPUT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1807" y="5532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Business-ready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1807" y="5760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Star schema + marts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6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1645920" y="18542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8542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854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CSV → S3 → Snowpipe → Snowflake → dbt → Dashboard</a:t>
            </a:r>
          </a:p>
        </p:txBody>
      </p:sp>
      <p:sp>
        <p:nvSpPr>
          <p:cNvPr id="7" name="Oval 6"/>
          <p:cNvSpPr/>
          <p:nvPr/>
        </p:nvSpPr>
        <p:spPr>
          <a:xfrm>
            <a:off x="1645920" y="24485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48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23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ELT over 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448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Load first, transform in the warehouse with dbt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304292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042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Medallion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0429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Bronze → Silver → Gold — increasing quality at each layer</a:t>
            </a:r>
          </a:p>
        </p:txBody>
      </p:sp>
      <p:sp>
        <p:nvSpPr>
          <p:cNvPr id="15" name="Oval 14"/>
          <p:cNvSpPr/>
          <p:nvPr/>
        </p:nvSpPr>
        <p:spPr>
          <a:xfrm>
            <a:off x="1645920" y="363728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637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Star Schema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637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Denormalized for fast reads: 3 JOINs instead of 5+</a:t>
            </a:r>
          </a:p>
        </p:txBody>
      </p:sp>
      <p:sp>
        <p:nvSpPr>
          <p:cNvPr id="19" name="Oval 18"/>
          <p:cNvSpPr/>
          <p:nvPr/>
        </p:nvSpPr>
        <p:spPr>
          <a:xfrm>
            <a:off x="1645920" y="423164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4231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CUBE Aggregations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231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Multi-dimensional analysis in a single SQL query</a:t>
            </a:r>
          </a:p>
        </p:txBody>
      </p:sp>
      <p:sp>
        <p:nvSpPr>
          <p:cNvPr id="23" name="Oval 22"/>
          <p:cNvSpPr/>
          <p:nvPr/>
        </p:nvSpPr>
        <p:spPr>
          <a:xfrm>
            <a:off x="1645920" y="482600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20" y="482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800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Data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826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Tests, lineage, naming conventions, PII anonymization</a:t>
            </a:r>
          </a:p>
        </p:txBody>
      </p:sp>
      <p:sp>
        <p:nvSpPr>
          <p:cNvPr id="27" name="Oval 26"/>
          <p:cNvSpPr/>
          <p:nvPr/>
        </p:nvSpPr>
        <p:spPr>
          <a:xfrm>
            <a:off x="1645920" y="5420360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645920" y="542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96DF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5394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Interactive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5420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DDFF"/>
                </a:solidFill>
                <a:latin typeface="Calibri"/>
              </a:defRPr>
            </a:pPr>
            <a:r>
              <a:t>Streamlit + Plotly for real-time business insights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